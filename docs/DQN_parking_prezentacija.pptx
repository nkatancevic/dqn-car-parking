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7FA"/>
                </a:solidFill>
              </a:rPr>
              <a:t>Autonomno parkiranje pomoću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4F7FA"/>
                </a:solidFill>
              </a:rPr>
              <a:t>Deep Q-Learninga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85216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0BA"/>
                </a:solidFill>
              </a:rPr>
              <a:t>Finalni DQN agent: curriculum learning, safe-action mask i 31-dimenzionalno stanje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85216" y="2788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E08E"/>
                </a:solidFill>
              </a:rPr>
              <a:t>79.38%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85216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finalna evaluacija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43200" y="2788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E08E"/>
                </a:solidFill>
              </a:rPr>
              <a:t>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0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sudara u 800 testova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34840" y="2788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5D6F6"/>
                </a:solidFill>
              </a:rPr>
              <a:t>5/8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slotova sa 100% uspeha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0" y="777240"/>
            <a:ext cx="5074920" cy="4892040"/>
          </a:xfrm>
          <a:prstGeom prst="roundRect">
            <a:avLst>
              <a:gd name="adj" fmla="val 2991"/>
            </a:avLst>
          </a:prstGeom>
          <a:solidFill>
            <a:srgbClr val="2B3037"/>
          </a:solidFill>
          <a:ln w="15240">
            <a:solidFill>
              <a:srgbClr val="6F768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21140" y="1371600"/>
            <a:ext cx="0" cy="3977640"/>
          </a:xfrm>
          <a:prstGeom prst="line">
            <a:avLst/>
          </a:prstGeom>
          <a:noFill/>
          <a:ln w="19050">
            <a:solidFill>
              <a:srgbClr val="858B9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995160" y="141732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24344" y="158191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498080" y="163129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40880" y="14447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27432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24344" y="29077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498080" y="29571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40880" y="27706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95160" y="406908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24344" y="423367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98080" y="428305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040880" y="40965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149840" y="141732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79024" y="158191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652760" y="163129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195560" y="14447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149840" y="27432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79024" y="29077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652760" y="29571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95560" y="27706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149840" y="406908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79024" y="423367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652760" y="428305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195560" y="40965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326880" y="941832"/>
            <a:ext cx="1097280" cy="594360"/>
          </a:xfrm>
          <a:prstGeom prst="rect">
            <a:avLst/>
          </a:prstGeom>
          <a:solidFill>
            <a:srgbClr val="1F6D3C"/>
          </a:solidFill>
          <a:ln w="27940">
            <a:solidFill>
              <a:srgbClr val="63E08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372600" y="9692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1018520" y="941832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1347704" y="110642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1521440" y="1155802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1064240" y="9692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 rot="5400000">
            <a:off x="8883396" y="5074920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3D8BFF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 rot="5400000">
            <a:off x="9064081" y="5127589"/>
            <a:ext cx="118872" cy="187269"/>
          </a:xfrm>
          <a:prstGeom prst="roundRect">
            <a:avLst>
              <a:gd name="adj" fmla="val 23077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098280" y="1691640"/>
            <a:ext cx="2011680" cy="3520440"/>
          </a:xfrm>
          <a:prstGeom prst="arc">
            <a:avLst/>
          </a:prstGeom>
          <a:noFill/>
          <a:ln w="31750">
            <a:solidFill>
              <a:srgbClr val="55D6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121140" y="4919472"/>
            <a:ext cx="0" cy="-100584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20840" y="58338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A"/>
                </a:solidFill>
              </a:rPr>
              <a:t>DQN bira jednu od 8 akcija na osnovu senzora, geometrije parking mesta i relativne pozicije cilja.</a:t>
            </a:r>
            <a:endParaRPr lang="en-US" sz="1400" dirty="0"/>
          </a:p>
        </p:txBody>
      </p:sp>
      <p:sp>
        <p:nvSpPr>
          <p:cNvPr id="47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i cilj projekta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Šta agent mora da nauči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417320"/>
            <a:ext cx="5212080" cy="4434840"/>
          </a:xfrm>
          <a:prstGeom prst="roundRect">
            <a:avLst>
              <a:gd name="adj" fmla="val 3299"/>
            </a:avLst>
          </a:prstGeom>
          <a:solidFill>
            <a:srgbClr val="2B3037"/>
          </a:solidFill>
          <a:ln w="15240">
            <a:solidFill>
              <a:srgbClr val="6F768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91840" y="2011680"/>
            <a:ext cx="0" cy="3520440"/>
          </a:xfrm>
          <a:prstGeom prst="line">
            <a:avLst/>
          </a:prstGeom>
          <a:noFill/>
          <a:ln w="19050">
            <a:solidFill>
              <a:srgbClr val="858B9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20574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26464" y="22219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600200" y="22713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43000" y="20848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0" y="338328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6464" y="354787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600200" y="359725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43000" y="34107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97280" y="470916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426464" y="48737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600200" y="492313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43000" y="47365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0" y="20574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18304" y="22219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92040" y="22713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34840" y="20848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89120" y="3383280"/>
            <a:ext cx="1097280" cy="594360"/>
          </a:xfrm>
          <a:prstGeom prst="rect">
            <a:avLst/>
          </a:prstGeom>
          <a:solidFill>
            <a:srgbClr val="1F6D3C"/>
          </a:solidFill>
          <a:ln w="27940">
            <a:solidFill>
              <a:srgbClr val="63E08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434840" y="34107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89120" y="470916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18304" y="48737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92040" y="492313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34840" y="47365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29000" y="1581912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758184" y="174650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931920" y="1795882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74720" y="16093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7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20640" y="1581912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449824" y="174650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623560" y="1795882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166360" y="16093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 rot="5400000">
            <a:off x="3054096" y="5257800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3D8BFF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 rot="5400000">
            <a:off x="3234781" y="5310469"/>
            <a:ext cx="118872" cy="187269"/>
          </a:xfrm>
          <a:prstGeom prst="roundRect">
            <a:avLst>
              <a:gd name="adj" fmla="val 23077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200400" y="2331720"/>
            <a:ext cx="2011680" cy="3520440"/>
          </a:xfrm>
          <a:prstGeom prst="arc">
            <a:avLst/>
          </a:prstGeom>
          <a:noFill/>
          <a:ln w="31750">
            <a:solidFill>
              <a:srgbClr val="55D6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291840" y="5102352"/>
            <a:ext cx="0" cy="-100584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922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</a:rPr>
              <a:t>Zadatak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492240" y="1920240"/>
            <a:ext cx="4754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4F7FA"/>
                </a:solidFill>
              </a:rPr>
              <a:t>Agent kreće iz ulaza u parking i treba da se bez sudara parkira u nasumično slobodno mesto.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92240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0BA"/>
                </a:solidFill>
              </a:rPr>
              <a:t>U svakoj epizodi samo jedno mesto je slobodno, dok su ostala zauzeta parkiranim automobilima.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6492240" y="3794760"/>
            <a:ext cx="1417320" cy="310896"/>
          </a:xfrm>
          <a:prstGeom prst="rect">
            <a:avLst/>
          </a:prstGeom>
          <a:solidFill>
            <a:srgbClr val="63E08E">
              <a:alpha val="85000"/>
            </a:srgbClr>
          </a:solidFill>
          <a:ln>
            <a:solidFill>
              <a:srgbClr val="63E08E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bez sudara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092440" y="3794760"/>
            <a:ext cx="1874520" cy="310896"/>
          </a:xfrm>
          <a:prstGeom prst="rect">
            <a:avLst/>
          </a:prstGeom>
          <a:solidFill>
            <a:srgbClr val="3D8BFF">
              <a:alpha val="85000"/>
            </a:srgbClr>
          </a:solidFill>
          <a:ln>
            <a:solidFill>
              <a:srgbClr val="3D8BFF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nasumičan target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149840" y="3794760"/>
            <a:ext cx="1417320" cy="310896"/>
          </a:xfrm>
          <a:prstGeom prst="rect">
            <a:avLst/>
          </a:prstGeom>
          <a:solidFill>
            <a:srgbClr val="55D6F6">
              <a:alpha val="85000"/>
            </a:srgbClr>
          </a:solidFill>
          <a:ln>
            <a:solidFill>
              <a:srgbClr val="55D6F6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diskretne akcije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92240" y="4846320"/>
            <a:ext cx="4663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C24B"/>
                </a:solidFill>
              </a:rPr>
              <a:t>Ključni izazov: isti početak, ali različiti ciljevi zahtevaju različite manevre.</a:t>
            </a:r>
            <a:endParaRPr lang="en-US" sz="2100" dirty="0"/>
          </a:p>
        </p:txBody>
      </p:sp>
      <p:sp>
        <p:nvSpPr>
          <p:cNvPr id="48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Stanje i akcije agenta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DQN ulaz i izlaz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E08E"/>
                </a:solidFill>
              </a:rPr>
              <a:t>31 ulaz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8BFF"/>
                </a:solidFill>
              </a:rPr>
              <a:t>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99032" y="21122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</a:rPr>
              <a:t>navigacija i položaj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0574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D6F6"/>
                </a:solidFill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87952" y="21122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</a:rPr>
              <a:t>distance senzori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24B"/>
                </a:solidFill>
              </a:rPr>
              <a:t>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99032" y="2679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</a:rPr>
              <a:t>semantički senzori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6243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E08E"/>
                </a:solidFill>
              </a:rPr>
              <a:t>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87952" y="2679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</a:rPr>
              <a:t>geometrija slot-a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55D6F6"/>
                </a:solidFill>
              </a:rPr>
              <a:t>8 akcija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777240" y="4096512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133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ništa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66160" y="4096512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4133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napred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535424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572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rikverc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566160" y="4535424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77640" y="4572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napred+levo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974336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010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napred+desno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566160" y="4974336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77640" y="5010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rikverc+levo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7240" y="5413248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rikverc+desno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566160" y="5413248"/>
            <a:ext cx="310896" cy="274320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318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77640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7FA"/>
                </a:solidFill>
              </a:rPr>
              <a:t>kočenje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126480" y="1371600"/>
            <a:ext cx="0" cy="4206240"/>
          </a:xfrm>
          <a:prstGeom prst="line">
            <a:avLst/>
          </a:prstGeom>
          <a:noFill/>
          <a:ln w="1524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0" y="1417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</a:rPr>
              <a:t>Dueling DQN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583680" y="20116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A8B0BA"/>
                </a:solidFill>
              </a:rPr>
              <a:t>Mreža za svako stanje procenjuje Q-vrednosti svih 8 akcija. Izabrana je akcija sa najvećom dozvoljenom Q-vrednošću.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629400" y="3703320"/>
            <a:ext cx="1005840" cy="274320"/>
          </a:xfrm>
          <a:prstGeom prst="rect">
            <a:avLst/>
          </a:prstGeom>
          <a:solidFill>
            <a:srgbClr val="27303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7FA"/>
                </a:solidFill>
              </a:rPr>
              <a:t>State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26680" y="3840480"/>
            <a:ext cx="1005840" cy="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823960" y="3611880"/>
            <a:ext cx="1143000" cy="457200"/>
          </a:xfrm>
          <a:prstGeom prst="rect">
            <a:avLst/>
          </a:prstGeom>
          <a:solidFill>
            <a:srgbClr val="27303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7FA"/>
                </a:solidFill>
              </a:rPr>
              <a:t>Q mreža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04120" y="3840480"/>
            <a:ext cx="731520" cy="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927080" y="3703320"/>
            <a:ext cx="914400" cy="274320"/>
          </a:xfrm>
          <a:prstGeom prst="rect">
            <a:avLst/>
          </a:prstGeom>
          <a:solidFill>
            <a:srgbClr val="27303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7FA"/>
                </a:solidFill>
              </a:rPr>
              <a:t>Akcija</a:t>
            </a:r>
            <a:endParaRPr lang="en-US" sz="1600" dirty="0"/>
          </a:p>
        </p:txBody>
      </p:sp>
      <p:sp>
        <p:nvSpPr>
          <p:cNvPr id="39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funkcija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Kako agent zna šta je dobro ponašanje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3716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63E08E"/>
                </a:solidFill>
              </a:rPr>
              <a:t>+300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92024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uspešno parkiranje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55D6F6"/>
                </a:solidFill>
              </a:rPr>
              <a:t>+12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20240" y="2029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dolazak u approach zonu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968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D8BFF"/>
                </a:solidFill>
              </a:rPr>
              <a:t>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92024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napredak ka cilju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2095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63E08E"/>
                </a:solidFill>
              </a:rPr>
              <a:t>+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920240" y="32552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bolja geometrija mesta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5C24B"/>
                </a:solidFill>
              </a:rPr>
              <a:t>−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920240" y="3867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prevelika brzina blizu mesta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9F43"/>
                </a:solidFill>
              </a:rPr>
              <a:t>−80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2024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timeout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50474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5E5E"/>
                </a:solidFill>
              </a:rPr>
              <a:t>−200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920240" y="5093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sudar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0" y="1280160"/>
            <a:ext cx="4754880" cy="4206240"/>
          </a:xfrm>
          <a:prstGeom prst="roundRect">
            <a:avLst>
              <a:gd name="adj" fmla="val 3478"/>
            </a:avLst>
          </a:prstGeom>
          <a:solidFill>
            <a:srgbClr val="2B3037"/>
          </a:solidFill>
          <a:ln w="15240">
            <a:solidFill>
              <a:srgbClr val="6F768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961120" y="1874520"/>
            <a:ext cx="0" cy="3291840"/>
          </a:xfrm>
          <a:prstGeom prst="line">
            <a:avLst/>
          </a:prstGeom>
          <a:noFill/>
          <a:ln w="19050">
            <a:solidFill>
              <a:srgbClr val="858B9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95160" y="192024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324344" y="208483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0" y="213421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040880" y="19476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95160" y="324612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324344" y="341071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98080" y="346009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040880" y="32735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95160" y="45720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24344" y="47365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498080" y="47859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040880" y="45994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829800" y="192024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158984" y="208483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332720" y="213421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875520" y="19476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829800" y="324612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158984" y="341071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332720" y="346009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875520" y="32735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829800" y="45720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158984" y="47365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332720" y="47859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875520" y="45994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6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326880" y="1444752"/>
            <a:ext cx="1097280" cy="594360"/>
          </a:xfrm>
          <a:prstGeom prst="rect">
            <a:avLst/>
          </a:prstGeom>
          <a:solidFill>
            <a:srgbClr val="1F6D3C"/>
          </a:solidFill>
          <a:ln w="27940">
            <a:solidFill>
              <a:srgbClr val="63E08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372600" y="147218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1018520" y="1444752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1347704" y="160934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1521440" y="1658722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1064240" y="147218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8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 rot="5400000">
            <a:off x="8723376" y="4892040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3D8BFF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 rot="5400000">
            <a:off x="8904061" y="4944709"/>
            <a:ext cx="118872" cy="187269"/>
          </a:xfrm>
          <a:prstGeom prst="roundRect">
            <a:avLst>
              <a:gd name="adj" fmla="val 23077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9098280" y="2194560"/>
            <a:ext cx="2011680" cy="3520440"/>
          </a:xfrm>
          <a:prstGeom prst="arc">
            <a:avLst/>
          </a:prstGeom>
          <a:noFill/>
          <a:ln w="31750">
            <a:solidFill>
              <a:srgbClr val="55D6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8961120" y="4736592"/>
            <a:ext cx="0" cy="-100584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629400" y="5669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0BA"/>
                </a:solidFill>
              </a:rPr>
              <a:t>Nagrada nije samo terminalna. Agent dobija sitne signale za približavanje cilju i pravilno centriranje.</a:t>
            </a:r>
            <a:endParaRPr lang="en-US" sz="1700" dirty="0"/>
          </a:p>
        </p:txBody>
      </p:sp>
      <p:sp>
        <p:nvSpPr>
          <p:cNvPr id="56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Zašto prvi pristup nije radio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Dijagnostika umesto nasumičnog menjanja reward-a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25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4F7FA"/>
                </a:solidFill>
              </a:rPr>
              <a:t>Početni pokušaj: random start + random target + svi automobili odmah.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8B0BA"/>
                </a:solidFill>
              </a:rPr>
              <a:t>Rezultat: agent često nije imao nijednu uspešnu epizodu — učio je uglavnom “vožnja → crash” ili “vožnja → timeout”.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A"/>
                </a:solidFill>
              </a:rPr>
              <a:t>Policy collapse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NAPRED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0" y="2071253"/>
            <a:ext cx="384048" cy="214747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577072" y="2021464"/>
            <a:ext cx="384048" cy="264536"/>
          </a:xfrm>
          <a:prstGeom prst="rect">
            <a:avLst/>
          </a:prstGeom>
          <a:solidFill>
            <a:srgbClr val="F5C24B"/>
          </a:solidFill>
          <a:ln w="12700">
            <a:solidFill>
              <a:srgbClr val="F5C24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290304" y="2026996"/>
            <a:ext cx="384048" cy="259004"/>
          </a:xfrm>
          <a:prstGeom prst="rect">
            <a:avLst/>
          </a:prstGeom>
          <a:solidFill>
            <a:srgbClr val="FF5E5E"/>
          </a:solidFill>
          <a:ln w="12700">
            <a:solidFill>
              <a:srgbClr val="FF5E5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RIKVERC+DESNO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2980258"/>
            <a:ext cx="384048" cy="82982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577072" y="2937007"/>
            <a:ext cx="384048" cy="126233"/>
          </a:xfrm>
          <a:prstGeom prst="rect">
            <a:avLst/>
          </a:prstGeom>
          <a:solidFill>
            <a:srgbClr val="F5C24B"/>
          </a:solidFill>
          <a:ln w="12700">
            <a:solidFill>
              <a:srgbClr val="F5C24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290304" y="2924937"/>
            <a:ext cx="384048" cy="138303"/>
          </a:xfrm>
          <a:prstGeom prst="rect">
            <a:avLst/>
          </a:prstGeom>
          <a:solidFill>
            <a:srgbClr val="FF5E5E"/>
          </a:solidFill>
          <a:ln w="12700">
            <a:solidFill>
              <a:srgbClr val="FF5E5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0" y="3383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KOČENJE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0" y="3811311"/>
            <a:ext cx="384048" cy="29169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77072" y="3792703"/>
            <a:ext cx="384048" cy="47777"/>
          </a:xfrm>
          <a:prstGeom prst="rect">
            <a:avLst/>
          </a:prstGeom>
          <a:solidFill>
            <a:srgbClr val="F5C24B"/>
          </a:solidFill>
          <a:ln w="12700">
            <a:solidFill>
              <a:srgbClr val="F5C24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290304" y="3759510"/>
            <a:ext cx="384048" cy="80970"/>
          </a:xfrm>
          <a:prstGeom prst="rect">
            <a:avLst/>
          </a:prstGeom>
          <a:solidFill>
            <a:srgbClr val="FF5E5E"/>
          </a:solidFill>
          <a:ln w="12700">
            <a:solidFill>
              <a:srgbClr val="FF5E5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26680" y="4233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A"/>
                </a:solidFill>
              </a:rPr>
              <a:t>Initial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9912" y="4233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A"/>
                </a:solidFill>
              </a:rPr>
              <a:t>EP400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0" y="4233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A"/>
                </a:solidFill>
              </a:rPr>
              <a:t>EP500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C24B"/>
                </a:solidFill>
              </a:rPr>
              <a:t>Zaključak: Q-vrednosti nisu eksplodirale; politika se suzila na mali broj akcija. Zato smo promenili trening strategiju.</a:t>
            </a:r>
            <a:endParaRPr lang="en-US" sz="1900" dirty="0"/>
          </a:p>
        </p:txBody>
      </p:sp>
      <p:sp>
        <p:nvSpPr>
          <p:cNvPr id="24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Finalna strategija treninga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“Snake-style” pristup: prvo stabilnost, onda generalizacija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325880"/>
            <a:ext cx="438912" cy="438912"/>
          </a:xfrm>
          <a:prstGeom prst="rect">
            <a:avLst/>
          </a:prstGeom>
          <a:solidFill>
            <a:srgbClr val="63E08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318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Curriculum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655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A"/>
                </a:solidFill>
              </a:rPr>
              <a:t>faza po faza: od jednog mesta do svih 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38912" cy="438912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318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Teacher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17320" y="26151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A"/>
                </a:solidFill>
              </a:rPr>
              <a:t>u ranim fazama daje razuman smer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438912" cy="438912"/>
          </a:xfrm>
          <a:prstGeom prst="rect">
            <a:avLst/>
          </a:prstGeom>
          <a:solidFill>
            <a:srgbClr val="63E08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318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Safe-action mask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17320" y="3575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A"/>
                </a:solidFill>
              </a:rPr>
              <a:t>blokira očigledno opasne akcije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438912" cy="438912"/>
          </a:xfrm>
          <a:prstGeom prst="rect">
            <a:avLst/>
          </a:prstGeom>
          <a:solidFill>
            <a:srgbClr val="55D6F6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318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187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Balanced replay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17320" y="4535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A"/>
                </a:solidFill>
              </a:rPr>
              <a:t>crash/timeout primeri se čuvaju smisleno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12984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A"/>
                </a:solidFill>
              </a:rPr>
              <a:t>Curriculum faze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194560" cy="384048"/>
          </a:xfrm>
          <a:prstGeom prst="rect">
            <a:avLst/>
          </a:prstGeom>
          <a:solidFill>
            <a:srgbClr val="27303A"/>
          </a:solidFill>
          <a:ln>
            <a:solidFill>
              <a:srgbClr val="3B455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A"/>
                </a:solidFill>
              </a:rPr>
              <a:t>P0 TOP6 prazno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0" y="1874520"/>
            <a:ext cx="2194560" cy="384048"/>
          </a:xfrm>
          <a:prstGeom prst="rect">
            <a:avLst/>
          </a:prstGeom>
          <a:solidFill>
            <a:srgbClr val="27303A"/>
          </a:solidFill>
          <a:ln>
            <a:solidFill>
              <a:srgbClr val="3B455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A"/>
                </a:solidFill>
              </a:rPr>
              <a:t>P1 TOP6 + prepreke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0" y="2624328"/>
            <a:ext cx="2194560" cy="384048"/>
          </a:xfrm>
          <a:prstGeom prst="rect">
            <a:avLst/>
          </a:prstGeom>
          <a:solidFill>
            <a:srgbClr val="27303A"/>
          </a:solidFill>
          <a:ln>
            <a:solidFill>
              <a:srgbClr val="3B455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A"/>
                </a:solidFill>
              </a:rPr>
              <a:t>P2 TOP random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61120" y="2624328"/>
            <a:ext cx="2194560" cy="384048"/>
          </a:xfrm>
          <a:prstGeom prst="rect">
            <a:avLst/>
          </a:prstGeom>
          <a:solidFill>
            <a:srgbClr val="27303A"/>
          </a:solidFill>
          <a:ln>
            <a:solidFill>
              <a:srgbClr val="3B455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A"/>
                </a:solidFill>
              </a:rPr>
              <a:t>P3 LEFT random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3374136"/>
            <a:ext cx="2194560" cy="384048"/>
          </a:xfrm>
          <a:prstGeom prst="rect">
            <a:avLst/>
          </a:prstGeom>
          <a:solidFill>
            <a:srgbClr val="27303A"/>
          </a:solidFill>
          <a:ln>
            <a:solidFill>
              <a:srgbClr val="3B455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A"/>
                </a:solidFill>
              </a:rPr>
              <a:t>P4 RIGHT random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0" y="3374136"/>
            <a:ext cx="2194560" cy="384048"/>
          </a:xfrm>
          <a:prstGeom prst="rect">
            <a:avLst/>
          </a:prstGeom>
          <a:solidFill>
            <a:srgbClr val="1D6B42"/>
          </a:solidFill>
          <a:ln>
            <a:solidFill>
              <a:srgbClr val="63E08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A"/>
                </a:solidFill>
              </a:rPr>
              <a:t>P5 svih 8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0BA"/>
                </a:solidFill>
              </a:rPr>
              <a:t>Ovo je preokrenulo trening: agent je prvo naučio čist manevar, a tek zatim prepreke i različite ciljeve.</a:t>
            </a:r>
            <a:endParaRPr lang="en-US" sz="1900" dirty="0"/>
          </a:p>
        </p:txBody>
      </p:sp>
      <p:sp>
        <p:nvSpPr>
          <p:cNvPr id="25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Trening: od prve faze do finalnog agenta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Napredak kroz curriculum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08760" y="2743200"/>
            <a:ext cx="1097280" cy="0"/>
          </a:xfrm>
          <a:prstGeom prst="line">
            <a:avLst/>
          </a:prstGeom>
          <a:noFill/>
          <a:ln w="25400">
            <a:solidFill>
              <a:srgbClr val="46505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487168"/>
            <a:ext cx="502920" cy="502920"/>
          </a:xfrm>
          <a:prstGeom prst="rect">
            <a:avLst/>
          </a:prstGeom>
          <a:solidFill>
            <a:srgbClr val="3D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318"/>
                </a:solidFill>
              </a:rPr>
              <a:t>P0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TOP empty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2743200"/>
            <a:ext cx="1097280" cy="0"/>
          </a:xfrm>
          <a:prstGeom prst="line">
            <a:avLst/>
          </a:prstGeom>
          <a:noFill/>
          <a:ln w="25400">
            <a:solidFill>
              <a:srgbClr val="46505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06040" y="2487168"/>
            <a:ext cx="502920" cy="502920"/>
          </a:xfrm>
          <a:prstGeom prst="rect">
            <a:avLst/>
          </a:prstGeom>
          <a:solidFill>
            <a:srgbClr val="3D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318"/>
                </a:solidFill>
              </a:rPr>
              <a:t>P1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77440" y="3154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TOP obst.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2743200"/>
            <a:ext cx="1097280" cy="0"/>
          </a:xfrm>
          <a:prstGeom prst="line">
            <a:avLst/>
          </a:prstGeom>
          <a:noFill/>
          <a:ln w="25400">
            <a:solidFill>
              <a:srgbClr val="46505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0" y="2487168"/>
            <a:ext cx="502920" cy="502920"/>
          </a:xfrm>
          <a:prstGeom prst="rect">
            <a:avLst/>
          </a:prstGeom>
          <a:solidFill>
            <a:srgbClr val="3D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318"/>
                </a:solidFill>
              </a:rPr>
              <a:t>P2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60520" y="3154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TOP rand.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2743200"/>
            <a:ext cx="1097280" cy="0"/>
          </a:xfrm>
          <a:prstGeom prst="line">
            <a:avLst/>
          </a:prstGeom>
          <a:noFill/>
          <a:ln w="25400">
            <a:solidFill>
              <a:srgbClr val="46505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2200" y="2487168"/>
            <a:ext cx="502920" cy="502920"/>
          </a:xfrm>
          <a:prstGeom prst="rect">
            <a:avLst/>
          </a:prstGeom>
          <a:solidFill>
            <a:srgbClr val="3D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318"/>
                </a:solidFill>
              </a:rPr>
              <a:t>P3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0" y="3154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LEFT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41080" y="2743200"/>
            <a:ext cx="1097280" cy="0"/>
          </a:xfrm>
          <a:prstGeom prst="line">
            <a:avLst/>
          </a:prstGeom>
          <a:noFill/>
          <a:ln w="25400">
            <a:solidFill>
              <a:srgbClr val="46505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955280" y="2487168"/>
            <a:ext cx="502920" cy="502920"/>
          </a:xfrm>
          <a:prstGeom prst="rect">
            <a:avLst/>
          </a:prstGeom>
          <a:solidFill>
            <a:srgbClr val="3D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318"/>
                </a:solidFill>
              </a:rPr>
              <a:t>P4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26680" y="3154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RIGHT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38360" y="2487168"/>
            <a:ext cx="502920" cy="502920"/>
          </a:xfrm>
          <a:prstGeom prst="rect">
            <a:avLst/>
          </a:prstGeom>
          <a:solidFill>
            <a:srgbClr val="63E0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318"/>
                </a:solidFill>
              </a:rPr>
              <a:t>P5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09760" y="3154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ALL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4389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E08E"/>
                </a:solidFill>
              </a:rPr>
              <a:t>100%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60120" y="4892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Phase 0 mastered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023360" y="4389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E08E"/>
                </a:solidFill>
              </a:rPr>
              <a:t>83%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023360" y="4892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Phase 5 mastered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0" y="4389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E08E"/>
                </a:solidFill>
              </a:rPr>
              <a:t>0%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766560" y="4892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crash u završnoj fazi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05840" y="12344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4F7FA"/>
                </a:solidFill>
              </a:rPr>
              <a:t>Najbitniji rezultat treninga nije samo uspešnost, već stabilnost: završna faza je savladana bez sudara.</a:t>
            </a:r>
            <a:endParaRPr lang="en-US" sz="2300" dirty="0"/>
          </a:p>
        </p:txBody>
      </p:sp>
      <p:sp>
        <p:nvSpPr>
          <p:cNvPr id="29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Finalna nezavisna evaluacija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800 testova: 100 po parking mestu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E08E"/>
                </a:solidFill>
              </a:rPr>
              <a:t>79.38%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ukupan success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E08E"/>
                </a:solidFill>
              </a:rPr>
              <a:t>0.00%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crash u 800 testova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3212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24B"/>
                </a:solidFill>
              </a:rPr>
              <a:t>20.62%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532120" y="1920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0BA"/>
                </a:solidFill>
              </a:rPr>
              <a:t>timeout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7FA"/>
                </a:solidFill>
              </a:rPr>
              <a:t>Rezultati po strani parkinga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005840" y="3886200"/>
            <a:ext cx="3474720" cy="256032"/>
          </a:xfrm>
          <a:prstGeom prst="rect">
            <a:avLst/>
          </a:prstGeom>
          <a:solidFill>
            <a:srgbClr val="2A3038"/>
          </a:solidFill>
          <a:ln w="12700">
            <a:solidFill>
              <a:srgbClr val="2A30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05840" y="3886200"/>
            <a:ext cx="2675534" cy="256032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3639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LEFT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90288" y="386791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</a:rPr>
              <a:t>77%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4617720"/>
            <a:ext cx="3474720" cy="256032"/>
          </a:xfrm>
          <a:prstGeom prst="rect">
            <a:avLst/>
          </a:prstGeom>
          <a:solidFill>
            <a:srgbClr val="2A3038"/>
          </a:solidFill>
          <a:ln w="12700">
            <a:solidFill>
              <a:srgbClr val="2A30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05840" y="4617720"/>
            <a:ext cx="2362810" cy="256032"/>
          </a:xfrm>
          <a:prstGeom prst="rect">
            <a:avLst/>
          </a:prstGeom>
          <a:solidFill>
            <a:srgbClr val="55D6F6"/>
          </a:solidFill>
          <a:ln w="12700">
            <a:solidFill>
              <a:srgbClr val="55D6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708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RIGHT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0288" y="459943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</a:rPr>
              <a:t>68%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" y="5349240"/>
            <a:ext cx="3474720" cy="256032"/>
          </a:xfrm>
          <a:prstGeom prst="rect">
            <a:avLst/>
          </a:prstGeom>
          <a:solidFill>
            <a:srgbClr val="2A3038"/>
          </a:solidFill>
          <a:ln w="12700">
            <a:solidFill>
              <a:srgbClr val="2A30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05840" y="5349240"/>
            <a:ext cx="3474720" cy="256032"/>
          </a:xfrm>
          <a:prstGeom prst="rect">
            <a:avLst/>
          </a:prstGeom>
          <a:solidFill>
            <a:srgbClr val="63E08E"/>
          </a:solidFill>
          <a:ln w="12700">
            <a:solidFill>
              <a:srgbClr val="63E0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5102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BA"/>
                </a:solidFill>
              </a:rPr>
              <a:t>TOP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90288" y="533095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</a:rPr>
              <a:t>100%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2514600"/>
            <a:ext cx="4572000" cy="3383280"/>
          </a:xfrm>
          <a:prstGeom prst="roundRect">
            <a:avLst>
              <a:gd name="adj" fmla="val 4324"/>
            </a:avLst>
          </a:prstGeom>
          <a:solidFill>
            <a:srgbClr val="2B3037"/>
          </a:solidFill>
          <a:ln w="15240">
            <a:solidFill>
              <a:srgbClr val="6F768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778240" y="3108960"/>
            <a:ext cx="0" cy="2468880"/>
          </a:xfrm>
          <a:prstGeom prst="line">
            <a:avLst/>
          </a:prstGeom>
          <a:noFill/>
          <a:ln w="19050">
            <a:solidFill>
              <a:srgbClr val="858B9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903720" y="315468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232904" y="331927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406640" y="336865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49440" y="31821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03720" y="448056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232904" y="46451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06640" y="469453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949440" y="45079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03720" y="580644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232904" y="597103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406640" y="602041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49440" y="58338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555480" y="315468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884664" y="331927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058400" y="336865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601200" y="31821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555480" y="448056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884664" y="46451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058400" y="469453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601200" y="45079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555480" y="580644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884664" y="597103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058400" y="602041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601200" y="58338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235440" y="2679192"/>
            <a:ext cx="1097280" cy="594360"/>
          </a:xfrm>
          <a:prstGeom prst="rect">
            <a:avLst/>
          </a:prstGeom>
          <a:solidFill>
            <a:srgbClr val="1F6D3C"/>
          </a:solidFill>
          <a:ln w="27940">
            <a:solidFill>
              <a:srgbClr val="63E08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281160" y="270662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7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927080" y="2679192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1256264" y="284378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1430000" y="2893162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0972800" y="270662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8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 rot="5400000">
            <a:off x="8540496" y="5303520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3D8BFF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 rot="5400000">
            <a:off x="8721181" y="5356189"/>
            <a:ext cx="118872" cy="187269"/>
          </a:xfrm>
          <a:prstGeom prst="roundRect">
            <a:avLst>
              <a:gd name="adj" fmla="val 23077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006840" y="3429000"/>
            <a:ext cx="2011680" cy="3520440"/>
          </a:xfrm>
          <a:prstGeom prst="arc">
            <a:avLst/>
          </a:prstGeom>
          <a:noFill/>
          <a:ln w="31750">
            <a:solidFill>
              <a:srgbClr val="55D6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778240" y="5148072"/>
            <a:ext cx="0" cy="-100584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818120" y="1325880"/>
            <a:ext cx="34747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3E08E"/>
                </a:solidFill>
              </a:rPr>
              <a:t>0 sudara: agent radije odustane kroz timeout nego da rizikuje sudar.</a:t>
            </a:r>
            <a:endParaRPr lang="en-US" sz="1700" dirty="0"/>
          </a:p>
        </p:txBody>
      </p:sp>
      <p:sp>
        <p:nvSpPr>
          <p:cNvPr id="61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po parking mestu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Gde agent generalizuje dobro, a gde zapinje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3447288"/>
            <a:ext cx="713232" cy="1810512"/>
          </a:xfrm>
          <a:prstGeom prst="rect">
            <a:avLst/>
          </a:prstGeom>
          <a:solidFill>
            <a:srgbClr val="3D8BFF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66%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67128" y="2514600"/>
            <a:ext cx="713232" cy="2743200"/>
          </a:xfrm>
          <a:prstGeom prst="rect">
            <a:avLst/>
          </a:prstGeom>
          <a:solidFill>
            <a:srgbClr val="63E08E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75688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100%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21408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11296" y="3474720"/>
            <a:ext cx="713232" cy="1783080"/>
          </a:xfrm>
          <a:prstGeom prst="rect">
            <a:avLst/>
          </a:prstGeom>
          <a:solidFill>
            <a:srgbClr val="3D8BFF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19856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65%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65576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55464" y="2514600"/>
            <a:ext cx="713232" cy="2743200"/>
          </a:xfrm>
          <a:prstGeom prst="rect">
            <a:avLst/>
          </a:prstGeom>
          <a:solidFill>
            <a:srgbClr val="63E08E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64024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100%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5148072"/>
            <a:ext cx="713232" cy="109728"/>
          </a:xfrm>
          <a:prstGeom prst="rect">
            <a:avLst/>
          </a:prstGeom>
          <a:solidFill>
            <a:srgbClr val="FF5E5E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08192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4%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3912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2514600"/>
            <a:ext cx="713232" cy="2743200"/>
          </a:xfrm>
          <a:prstGeom prst="rect">
            <a:avLst/>
          </a:prstGeom>
          <a:solidFill>
            <a:srgbClr val="63E08E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52360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100%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87968" y="2514600"/>
            <a:ext cx="713232" cy="2743200"/>
          </a:xfrm>
          <a:prstGeom prst="rect">
            <a:avLst/>
          </a:prstGeom>
          <a:solidFill>
            <a:srgbClr val="63E08E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96528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100%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42248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32136" y="2514600"/>
            <a:ext cx="713232" cy="2743200"/>
          </a:xfrm>
          <a:prstGeom prst="rect">
            <a:avLst/>
          </a:prstGeom>
          <a:solidFill>
            <a:srgbClr val="63E08E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140696" y="5376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</a:rPr>
              <a:t>100%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86416" y="5669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A"/>
                </a:solidFill>
              </a:rPr>
              <a:t>S8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257800"/>
            <a:ext cx="10789920" cy="0"/>
          </a:xfrm>
          <a:prstGeom prst="line">
            <a:avLst/>
          </a:prstGeom>
          <a:noFill/>
          <a:ln w="12700">
            <a:solidFill>
              <a:srgbClr val="454D5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868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E08E"/>
                </a:solidFill>
              </a:rPr>
              <a:t>5/8 mesta: 100% uspeha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669280" y="1234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C24B"/>
                </a:solidFill>
              </a:rPr>
              <a:t>Slabost: slot 4 ima 4% uspeha, ali i dalje 0% crash — najčešće timeout.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14400" y="6144768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8B0BA"/>
                </a:solidFill>
              </a:rPr>
              <a:t>Zaključak: model je bezbedan i vrlo dobar za većinu geometrija, ali još nije potpuno generalizovao specifične bočne manevre.</a:t>
            </a:r>
            <a:endParaRPr lang="en-US" sz="1550" dirty="0"/>
          </a:p>
        </p:txBody>
      </p:sp>
      <p:sp>
        <p:nvSpPr>
          <p:cNvPr id="33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6"/>
                </a:solidFill>
                <a:latin typeface="Aptos Display"/>
              </a:defRPr>
            </a:pPr>
            <a:r>
              <a:t>Statistička pouzdanost finalne evaluacije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AB2BD"/>
                </a:solidFill>
                <a:latin typeface="Aptos"/>
              </a:defRPr>
            </a:pPr>
            <a:r>
              <a:t>95% egzaktni binomni intervali poverenja izračunati pomoću scipy.stats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35024"/>
            <a:ext cx="11155680" cy="10972"/>
          </a:xfrm>
          <a:prstGeom prst="rect">
            <a:avLst/>
          </a:prstGeom>
          <a:solidFill>
            <a:srgbClr val="3A4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king_success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8366760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62288" y="1645920"/>
            <a:ext cx="2441448" cy="3749039"/>
          </a:xfrm>
          <a:prstGeom prst="roundRect">
            <a:avLst/>
          </a:prstGeom>
          <a:solidFill>
            <a:srgbClr val="1F252C"/>
          </a:solidFill>
          <a:ln>
            <a:solidFill>
              <a:srgbClr val="3E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32" y="192024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2DA91"/>
                </a:solidFill>
                <a:latin typeface="Aptos Display"/>
              </a:defRPr>
            </a:pPr>
            <a:r>
              <a:t>5 / 8</a:t>
            </a:r>
          </a:p>
          <a:p>
            <a:pPr>
              <a:defRPr sz="1250">
                <a:solidFill>
                  <a:srgbClr val="B4BCC6"/>
                </a:solidFill>
                <a:latin typeface="Aptos"/>
              </a:defRPr>
            </a:pPr>
            <a:r>
              <a:t>slotova: 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32" y="2907792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2CFF0"/>
                </a:solidFill>
                <a:latin typeface="Aptos Display"/>
              </a:defRPr>
            </a:pPr>
            <a:r>
              <a:t>0 / 800</a:t>
            </a:r>
          </a:p>
          <a:p>
            <a:pPr>
              <a:defRPr sz="1250">
                <a:solidFill>
                  <a:srgbClr val="B4BCC6"/>
                </a:solidFill>
                <a:latin typeface="Aptos"/>
              </a:defRPr>
            </a:pPr>
            <a:r>
              <a:t>sudara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3895344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464"/>
                </a:solidFill>
                <a:latin typeface="Aptos Display"/>
              </a:defRPr>
            </a:pPr>
            <a:r>
              <a:t>S5: 4%</a:t>
            </a:r>
          </a:p>
          <a:p>
            <a:pPr>
              <a:defRPr sz="1250">
                <a:solidFill>
                  <a:srgbClr val="B4BCC6"/>
                </a:solidFill>
                <a:latin typeface="Aptos"/>
              </a:defRPr>
            </a:pPr>
            <a:r>
              <a:t>glavna slabost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5650992"/>
            <a:ext cx="10881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BEC6D0"/>
                </a:solidFill>
                <a:latin typeface="Aptos"/>
              </a:defRPr>
            </a:pPr>
            <a:r>
              <a:t>Intervali pokazuju da je razlika između stabilnih slotova i problematičnog S5 statistički vrlo jasna — neuspeh nije posledica sudara, već timeout-a.</a:t>
            </a:r>
          </a:p>
        </p:txBody>
      </p:sp>
      <p:sp>
        <p:nvSpPr>
          <p:cNvPr id="11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Finalni demo viewer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Vizuelna odbrana rada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280160"/>
            <a:ext cx="5715000" cy="4572000"/>
          </a:xfrm>
          <a:prstGeom prst="roundRect">
            <a:avLst>
              <a:gd name="adj" fmla="val 3200"/>
            </a:avLst>
          </a:prstGeom>
          <a:solidFill>
            <a:srgbClr val="2B3037"/>
          </a:solidFill>
          <a:ln w="15240">
            <a:solidFill>
              <a:srgbClr val="6F768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543300" y="1874520"/>
            <a:ext cx="0" cy="3657600"/>
          </a:xfrm>
          <a:prstGeom prst="line">
            <a:avLst/>
          </a:prstGeom>
          <a:noFill/>
          <a:ln w="19050">
            <a:solidFill>
              <a:srgbClr val="858B9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92024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26464" y="208483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600200" y="213421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43000" y="19476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0" y="324612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6464" y="341071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600200" y="346009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43000" y="32735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97280" y="45720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426464" y="47365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600200" y="47859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43000" y="45994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92024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221224" y="208483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394960" y="213421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37760" y="19476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92040" y="324612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221224" y="341071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394960" y="346009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37760" y="32735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45720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221224" y="47365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394960" y="47859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37760" y="45994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29000" y="1444752"/>
            <a:ext cx="1097280" cy="594360"/>
          </a:xfrm>
          <a:prstGeom prst="rect">
            <a:avLst/>
          </a:prstGeom>
          <a:solidFill>
            <a:srgbClr val="1F6D3C"/>
          </a:solidFill>
          <a:ln w="27940">
            <a:solidFill>
              <a:srgbClr val="63E08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74720" y="147218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7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20640" y="1444752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449824" y="160934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623560" y="1658722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166360" y="147218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 rot="5400000">
            <a:off x="3305556" y="5257800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3D8BFF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 rot="5400000">
            <a:off x="3486241" y="5310469"/>
            <a:ext cx="118872" cy="187269"/>
          </a:xfrm>
          <a:prstGeom prst="roundRect">
            <a:avLst>
              <a:gd name="adj" fmla="val 23077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200400" y="2194560"/>
            <a:ext cx="2011680" cy="3520440"/>
          </a:xfrm>
          <a:prstGeom prst="arc">
            <a:avLst/>
          </a:prstGeom>
          <a:noFill/>
          <a:ln w="31750">
            <a:solidFill>
              <a:srgbClr val="55D6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543300" y="5102352"/>
            <a:ext cx="0" cy="-100584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812280" y="1280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</a:rPr>
              <a:t>Viewer prikazuje: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6812280" y="1920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3E08E"/>
                </a:solidFill>
              </a:rPr>
              <a:t>•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32320" y="1901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target parking mesto i zauzete automobile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812280" y="2359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3E08E"/>
                </a:solidFill>
              </a:rPr>
              <a:t>•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132320" y="23408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trajektoriju agenta i distance senzore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812280" y="27980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3E08E"/>
                </a:solidFill>
              </a:rPr>
              <a:t>•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132320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izabranu akciju u svakom koraku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812280" y="32369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3E08E"/>
                </a:solidFill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132320" y="3218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Q-vrednosti za svih 8 akcija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812280" y="3675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3E08E"/>
                </a:solidFill>
              </a:rPr>
              <a:t>•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132320" y="36576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A"/>
                </a:solidFill>
              </a:rPr>
              <a:t>kontrole za biranje slotova 1–8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6812280" y="4892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5D6F6"/>
                </a:solidFill>
              </a:rPr>
              <a:t>Za odbranu: prvo pokazati mesta sa 100%, zatim naglasiti da su i neuspešni slučajevi timeout, ne sudar.</a:t>
            </a:r>
            <a:endParaRPr lang="en-US" sz="2000" dirty="0"/>
          </a:p>
        </p:txBody>
      </p:sp>
      <p:sp>
        <p:nvSpPr>
          <p:cNvPr id="53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Zaključak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BA"/>
                </a:solidFill>
              </a:rPr>
              <a:t>Šta je postignuto i šta može dalje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325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E08E"/>
                </a:solidFill>
              </a:rPr>
              <a:t>Postignuto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3E08E"/>
                </a:solidFill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DQN agent uspešno upravlja automobilom diskretnim akcijama.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3E08E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4140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Curriculum learning omogućio je stabilan prelaz od lakog do finalnog problema.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9169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3E08E"/>
                </a:solidFill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U 800 nezavisnih testova nije zabeležen nijedan sudar.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3924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3E08E"/>
                </a:solidFill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33649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5 od 8 parking mesta imaju 100% uspeha.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92240" y="1325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D6F6"/>
                </a:solidFill>
              </a:rPr>
              <a:t>Dalji rad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D6F6"/>
                </a:solidFill>
              </a:rPr>
              <a:t>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12280" y="1938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ciljani fine-tuning za slot 4 i spora mesta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2240" y="24414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D6F6"/>
                </a:solidFill>
              </a:rPr>
              <a:t>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12280" y="24140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duži trening sa većom randomizacijom starta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92240" y="29169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D6F6"/>
                </a:solidFill>
              </a:rPr>
              <a:t>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1228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prioritized replay za problematične slučajeve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92240" y="33924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D6F6"/>
                </a:solidFill>
              </a:rPr>
              <a:t>→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12280" y="33649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A"/>
                </a:solidFill>
              </a:rPr>
              <a:t>kontinuirane akcije umesto 8 diskretnih komandi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080760" y="1371600"/>
            <a:ext cx="0" cy="4023360"/>
          </a:xfrm>
          <a:prstGeom prst="line">
            <a:avLst/>
          </a:prstGeom>
          <a:noFill/>
          <a:ln w="15240">
            <a:solidFill>
              <a:srgbClr val="2C344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24B"/>
                </a:solidFill>
              </a:rPr>
              <a:t>Glavna poruka: bezbednost je stabilna — model radije odustane kroz timeout nego da napravi sudar.</a:t>
            </a:r>
            <a:endParaRPr lang="en-US" sz="2200" dirty="0"/>
          </a:p>
        </p:txBody>
      </p:sp>
      <p:sp>
        <p:nvSpPr>
          <p:cNvPr id="25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087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7FA"/>
                </a:solidFill>
              </a:rPr>
              <a:t>Pitanja?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68680" y="24231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B0BA"/>
                </a:solidFill>
              </a:rPr>
              <a:t>Autonomno parkiranje pomoću Deep Q-Learninga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0" y="960120"/>
            <a:ext cx="4754880" cy="4389120"/>
          </a:xfrm>
          <a:prstGeom prst="roundRect">
            <a:avLst>
              <a:gd name="adj" fmla="val 3333"/>
            </a:avLst>
          </a:prstGeom>
          <a:solidFill>
            <a:srgbClr val="2B3037"/>
          </a:solidFill>
          <a:ln w="15240">
            <a:solidFill>
              <a:srgbClr val="6F768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0" y="1554480"/>
            <a:ext cx="0" cy="3474720"/>
          </a:xfrm>
          <a:prstGeom prst="line">
            <a:avLst/>
          </a:prstGeom>
          <a:noFill/>
          <a:ln w="19050">
            <a:solidFill>
              <a:srgbClr val="858B9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995160" y="16002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24344" y="17647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498080" y="18141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0" y="16276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95160" y="292608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24344" y="309067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498080" y="314005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40880" y="29535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425196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24344" y="44165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498080" y="446593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40880" y="42793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829800" y="160020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158984" y="176479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332720" y="181417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875520" y="16276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829800" y="292608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158984" y="309067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332720" y="314005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875520" y="29535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829800" y="4251960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158984" y="44165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332720" y="4465930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875520" y="42793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326880" y="1124712"/>
            <a:ext cx="1097280" cy="594360"/>
          </a:xfrm>
          <a:prstGeom prst="rect">
            <a:avLst/>
          </a:prstGeom>
          <a:solidFill>
            <a:srgbClr val="1F6D3C"/>
          </a:solidFill>
          <a:ln w="27940">
            <a:solidFill>
              <a:srgbClr val="63E08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372600" y="11521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018520" y="1124712"/>
            <a:ext cx="1097280" cy="594360"/>
          </a:xfrm>
          <a:prstGeom prst="rect">
            <a:avLst/>
          </a:prstGeom>
          <a:solidFill>
            <a:srgbClr val="2B3037"/>
          </a:solidFill>
          <a:ln w="1778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1347704" y="128930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8B929D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1521440" y="1338682"/>
            <a:ext cx="114300" cy="175565"/>
          </a:xfrm>
          <a:prstGeom prst="roundRect">
            <a:avLst>
              <a:gd name="adj" fmla="val 24000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064240" y="11521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0BA"/>
                </a:solidFill>
              </a:rPr>
              <a:t>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 rot="5400000">
            <a:off x="8723376" y="4754880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3D8BFF"/>
          </a:solidFill>
          <a:ln w="12700">
            <a:solidFill>
              <a:srgbClr val="0B0D1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 rot="5400000">
            <a:off x="8904061" y="4807549"/>
            <a:ext cx="118872" cy="187269"/>
          </a:xfrm>
          <a:prstGeom prst="roundRect">
            <a:avLst>
              <a:gd name="adj" fmla="val 23077"/>
            </a:avLst>
          </a:prstGeom>
          <a:solidFill>
            <a:srgbClr val="22384E"/>
          </a:solidFill>
          <a:ln w="12700">
            <a:solidFill>
              <a:srgbClr val="2238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098280" y="1874520"/>
            <a:ext cx="2011680" cy="3520440"/>
          </a:xfrm>
          <a:prstGeom prst="arc">
            <a:avLst/>
          </a:prstGeom>
          <a:noFill/>
          <a:ln w="31750">
            <a:solidFill>
              <a:srgbClr val="55D6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961120" y="4599432"/>
            <a:ext cx="0" cy="-1005840"/>
          </a:xfrm>
          <a:prstGeom prst="line">
            <a:avLst/>
          </a:prstGeom>
          <a:noFill/>
          <a:ln w="25400">
            <a:solidFill>
              <a:srgbClr val="55D6F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68680" y="4160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E08E"/>
                </a:solidFill>
              </a:rPr>
              <a:t>Final: 79.38% success • 0% crash • 800 testova</a:t>
            </a:r>
            <a:endParaRPr lang="en-US" sz="2400" dirty="0"/>
          </a:p>
        </p:txBody>
      </p:sp>
      <p:sp>
        <p:nvSpPr>
          <p:cNvPr id="41" name="slide_number_footer_center"/>
          <p:cNvSpPr txBox="1"/>
          <p:nvPr/>
        </p:nvSpPr>
        <p:spPr>
          <a:xfrm>
            <a:off x="5638647" y="65562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B9C3CD"/>
                </a:solidFill>
                <a:latin typeface="Aptos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Faculty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Autonomno parkiranje pomoću Deep Q-Learninga</dc:title>
  <dc:subject>Autonomous parking DQN project presentation</dc:subject>
  <dc:creator>OpenAI</dc:creator>
  <cp:lastModifiedBy>OpenAI</cp:lastModifiedBy>
  <cp:revision>1</cp:revision>
  <dcterms:created xsi:type="dcterms:W3CDTF">2026-10-07T08:39:37Z</dcterms:created>
  <dcterms:modified xsi:type="dcterms:W3CDTF">2026-10-07T08:39:37Z</dcterms:modified>
</cp:coreProperties>
</file>